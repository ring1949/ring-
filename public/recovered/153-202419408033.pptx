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6"/>
  </p:notesMasterIdLst>
  <p:sldIdLst>
    <p:sldId id="310" r:id="rId4"/>
    <p:sldId id="256" r:id="rId5"/>
    <p:sldId id="305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6" r:id="rId15"/>
    <p:sldId id="264" r:id="rId16"/>
    <p:sldId id="268" r:id="rId17"/>
    <p:sldId id="270" r:id="rId18"/>
    <p:sldId id="304" r:id="rId19"/>
    <p:sldId id="273" r:id="rId20"/>
    <p:sldId id="290" r:id="rId21"/>
    <p:sldId id="291" r:id="rId22"/>
    <p:sldId id="289" r:id="rId23"/>
    <p:sldId id="293" r:id="rId24"/>
    <p:sldId id="306" r:id="rId25"/>
    <p:sldId id="278" r:id="rId26"/>
    <p:sldId id="294" r:id="rId27"/>
    <p:sldId id="295" r:id="rId28"/>
    <p:sldId id="296" r:id="rId29"/>
    <p:sldId id="297" r:id="rId30"/>
    <p:sldId id="308" r:id="rId31"/>
    <p:sldId id="298" r:id="rId32"/>
    <p:sldId id="299" r:id="rId33"/>
    <p:sldId id="300" r:id="rId34"/>
    <p:sldId id="301" r:id="rId35"/>
    <p:sldId id="303" r:id="rId36"/>
    <p:sldId id="302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785C"/>
    <a:srgbClr val="703F1E"/>
    <a:srgbClr val="9D8061"/>
    <a:srgbClr val="4E2C17"/>
    <a:srgbClr val="3B2510"/>
    <a:srgbClr val="6E3F20"/>
    <a:srgbClr val="604A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10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9.png"/><Relationship Id="rId3" Type="http://schemas.openxmlformats.org/officeDocument/2006/relationships/tags" Target="../tags/tag2.xml"/><Relationship Id="rId20" Type="http://schemas.openxmlformats.org/officeDocument/2006/relationships/notesSlide" Target="../notesSlides/notesSlide5.xml"/><Relationship Id="rId2" Type="http://schemas.openxmlformats.org/officeDocument/2006/relationships/image" Target="../media/image8.jpe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image" Target="../media/image12.png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image" Target="../media/image11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8.jpe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8.jpe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7.jpeg"/><Relationship Id="rId7" Type="http://schemas.openxmlformats.org/officeDocument/2006/relationships/image" Target="../media/image26.jpeg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image" Target="../media/image30.png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../media/image29.png"/><Relationship Id="rId3" Type="http://schemas.openxmlformats.org/officeDocument/2006/relationships/tags" Target="../tags/tag14.xml"/><Relationship Id="rId20" Type="http://schemas.openxmlformats.org/officeDocument/2006/relationships/notesSlide" Target="../notesSlides/notesSlide13.xml"/><Relationship Id="rId2" Type="http://schemas.openxmlformats.org/officeDocument/2006/relationships/image" Target="../media/image8.jpe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image" Target="../media/image32.png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image" Target="../media/image31.png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696720" y="349885"/>
            <a:ext cx="5915025" cy="4135755"/>
          </a:xfrm>
          <a:prstGeom prst="rect">
            <a:avLst/>
          </a:prstGeom>
        </p:spPr>
        <p:txBody>
          <a:bodyPr>
            <a:noAutofit/>
          </a:bodyPr>
          <a:p>
            <a:endParaRPr lang="en-US" altLang="zh-CN" sz="2400"/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黑体" panose="02010609060101010101" charset="-122"/>
                <a:ea typeface="黑体" panose="02010609060101010101" charset="-122"/>
              </a:rPr>
              <a:t> </a:t>
            </a:r>
            <a:endParaRPr lang="en-US" altLang="zh-CN" sz="1600">
              <a:latin typeface="黑体" panose="02010609060101010101" charset="-122"/>
              <a:ea typeface="黑体" panose="0201060906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</a:pPr>
            <a:r>
              <a:rPr lang="en-US" altLang="zh-CN" sz="1200" b="1">
                <a:latin typeface="黑体" panose="02010609060101010101" charset="-122"/>
                <a:ea typeface="黑体" panose="02010609060101010101" charset="-122"/>
              </a:rPr>
              <a:t> </a:t>
            </a:r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本科课程作业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</a:pPr>
            <a:r>
              <a:rPr lang="en-US" altLang="zh-CN" sz="1200" b="1">
                <a:latin typeface="黑体" panose="02010609060101010101" charset="-122"/>
                <a:ea typeface="黑体" panose="02010609060101010101" charset="-122"/>
              </a:rPr>
              <a:t> </a:t>
            </a:r>
            <a:endParaRPr lang="en-US" altLang="zh-CN" sz="1200" b="1">
              <a:latin typeface="黑体" panose="02010609060101010101" charset="-122"/>
              <a:ea typeface="黑体" panose="02010609060101010101" charset="-122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黑体" panose="02010609060101010101" charset="-122"/>
                <a:ea typeface="黑体" panose="02010609060101010101" charset="-122"/>
              </a:rPr>
              <a:t>   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课程名称：专业设计二</a:t>
            </a:r>
            <a:r>
              <a:rPr lang="zh-CN" altLang="en-US" sz="1200" b="1">
                <a:latin typeface="Calibri" panose="020F0502020204030204"/>
                <a:ea typeface="宋体" panose="02010600030101010101" pitchFamily="2" charset="-122"/>
              </a:rPr>
              <a:t>（室内空间设计）</a:t>
            </a:r>
            <a:endParaRPr lang="zh-CN" altLang="en-US" sz="1200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200">
              <a:latin typeface="Calibri" panose="020F0502020204030204"/>
              <a:ea typeface="宋体" panose="02010600030101010101" pitchFamily="2" charset="-122"/>
            </a:endParaRPr>
          </a:p>
          <a:p>
            <a:pPr marL="0" indent="688340" algn="just" defTabSz="26670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>
                <a:latin typeface="Calibri" panose="020F0502020204030204"/>
                <a:ea typeface="宋体" panose="02010600030101010101" pitchFamily="2" charset="-122"/>
              </a:rPr>
              <a:t>班 </a:t>
            </a:r>
            <a:r>
              <a:rPr lang="en-US" altLang="zh-CN" sz="1200" b="1">
                <a:latin typeface="Calibri" panose="020F0502020204030204"/>
                <a:ea typeface="宋体" panose="02010600030101010101" pitchFamily="2" charset="-122"/>
              </a:rPr>
              <a:t>   </a:t>
            </a:r>
            <a:r>
              <a:rPr lang="zh-CN" altLang="en-US" sz="1200" b="1">
                <a:latin typeface="Calibri" panose="020F0502020204030204"/>
                <a:ea typeface="宋体" panose="02010600030101010101" pitchFamily="2" charset="-122"/>
              </a:rPr>
              <a:t>级：</a:t>
            </a:r>
            <a:r>
              <a:rPr lang="en-US" altLang="zh-CN" sz="1200" b="1" u="sng">
                <a:latin typeface="Calibri" panose="020F0502020204030204"/>
                <a:ea typeface="宋体" panose="02010600030101010101" pitchFamily="2" charset="-122"/>
              </a:rPr>
              <a:t>     </a:t>
            </a:r>
            <a:r>
              <a:rPr lang="zh-CN" altLang="en-US" sz="1200" b="1" u="sng">
                <a:latin typeface="Calibri" panose="020F0502020204030204"/>
                <a:ea typeface="宋体" panose="02010600030101010101" pitchFamily="2" charset="-122"/>
              </a:rPr>
              <a:t>环境设计</a:t>
            </a:r>
            <a:r>
              <a:rPr lang="en-US" altLang="zh-CN" sz="1200" b="1" u="sng">
                <a:latin typeface="Calibri" panose="020F0502020204030204"/>
                <a:ea typeface="Calibri" panose="020F0502020204030204"/>
              </a:rPr>
              <a:t>2401</a:t>
            </a:r>
            <a:r>
              <a:rPr lang="en-US" altLang="zh-CN" sz="1200" b="1" u="sng">
                <a:latin typeface="Calibri" panose="020F0502020204030204"/>
                <a:ea typeface="宋体" panose="02010600030101010101" pitchFamily="2" charset="-122"/>
              </a:rPr>
              <a:t>     </a:t>
            </a:r>
            <a:r>
              <a:rPr lang="zh-CN" altLang="en-US" sz="1200" b="1">
                <a:latin typeface="Calibri" panose="020F0502020204030204"/>
                <a:ea typeface="宋体" panose="02010600030101010101" pitchFamily="2" charset="-122"/>
              </a:rPr>
              <a:t>姓 </a:t>
            </a:r>
            <a:r>
              <a:rPr lang="en-US" altLang="zh-CN" sz="1200" b="1">
                <a:latin typeface="Calibri" panose="020F0502020204030204"/>
                <a:ea typeface="宋体" panose="02010600030101010101" pitchFamily="2" charset="-122"/>
              </a:rPr>
              <a:t>   </a:t>
            </a:r>
            <a:r>
              <a:rPr lang="zh-CN" altLang="en-US" sz="1200" b="1">
                <a:latin typeface="Calibri" panose="020F0502020204030204"/>
                <a:ea typeface="宋体" panose="02010600030101010101" pitchFamily="2" charset="-122"/>
              </a:rPr>
              <a:t>名：</a:t>
            </a:r>
            <a:r>
              <a:rPr lang="en-US" altLang="zh-CN" sz="1200" b="1" u="sng">
                <a:latin typeface="Calibri" panose="020F0502020204030204"/>
                <a:ea typeface="宋体" panose="02010600030101010101" pitchFamily="2" charset="-122"/>
              </a:rPr>
              <a:t>          </a:t>
            </a:r>
            <a:r>
              <a:rPr lang="zh-CN" altLang="en-US" sz="1200" b="1" u="sng">
                <a:latin typeface="Calibri" panose="020F0502020204030204"/>
                <a:ea typeface="宋体" panose="02010600030101010101" pitchFamily="2" charset="-122"/>
              </a:rPr>
              <a:t>刘铮</a:t>
            </a:r>
            <a:r>
              <a:rPr lang="en-US" altLang="zh-CN" sz="1200" b="1" u="sng">
                <a:latin typeface="Calibri" panose="020F0502020204030204"/>
                <a:ea typeface="宋体" panose="02010600030101010101" pitchFamily="2" charset="-122"/>
              </a:rPr>
              <a:t>      </a:t>
            </a:r>
            <a:endParaRPr lang="en-US" altLang="zh-CN" sz="1200" b="1" u="sng">
              <a:latin typeface="Calibri" panose="020F0502020204030204"/>
              <a:ea typeface="宋体" panose="02010600030101010101" pitchFamily="2" charset="-122"/>
            </a:endParaRPr>
          </a:p>
          <a:p>
            <a:pPr marL="0" indent="688340" algn="just" defTabSz="26670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>
                <a:latin typeface="Calibri" panose="020F0502020204030204"/>
                <a:ea typeface="宋体" panose="02010600030101010101" pitchFamily="2" charset="-122"/>
              </a:rPr>
              <a:t>学 </a:t>
            </a:r>
            <a:r>
              <a:rPr lang="en-US" altLang="zh-CN" sz="1200" b="1">
                <a:latin typeface="Calibri" panose="020F0502020204030204"/>
                <a:ea typeface="宋体" panose="02010600030101010101" pitchFamily="2" charset="-122"/>
              </a:rPr>
              <a:t>   </a:t>
            </a:r>
            <a:r>
              <a:rPr lang="zh-CN" altLang="en-US" sz="1200" b="1">
                <a:latin typeface="Calibri" panose="020F0502020204030204"/>
                <a:ea typeface="宋体" panose="02010600030101010101" pitchFamily="2" charset="-122"/>
              </a:rPr>
              <a:t>号：</a:t>
            </a:r>
            <a:r>
              <a:rPr lang="en-US" altLang="zh-CN" sz="1200" b="1" u="sng">
                <a:latin typeface="Calibri" panose="020F0502020204030204"/>
                <a:ea typeface="宋体" panose="02010600030101010101" pitchFamily="2" charset="-122"/>
              </a:rPr>
              <a:t>  </a:t>
            </a:r>
            <a:r>
              <a:rPr lang="en-US" altLang="zh-CN" sz="1200" b="1" u="sng">
                <a:latin typeface="Calibri" panose="020F0502020204030204"/>
                <a:ea typeface="Calibri" panose="020F0502020204030204"/>
              </a:rPr>
              <a:t>202419408033</a:t>
            </a:r>
            <a:r>
              <a:rPr lang="en-US" altLang="zh-CN" sz="1200" b="1" u="sng">
                <a:latin typeface="Calibri" panose="020F0502020204030204"/>
                <a:ea typeface="宋体" panose="02010600030101010101" pitchFamily="2" charset="-122"/>
              </a:rPr>
              <a:t>      </a:t>
            </a:r>
            <a:r>
              <a:rPr lang="zh-CN" altLang="en-US" sz="1200" b="1">
                <a:latin typeface="Calibri" panose="020F0502020204030204"/>
                <a:ea typeface="宋体" panose="02010600030101010101" pitchFamily="2" charset="-122"/>
              </a:rPr>
              <a:t>指导教师：</a:t>
            </a:r>
            <a:r>
              <a:rPr lang="en-US" altLang="zh-CN" sz="1200" b="1" u="sng">
                <a:latin typeface="Calibri" panose="020F0502020204030204"/>
                <a:ea typeface="宋体" panose="02010600030101010101" pitchFamily="2" charset="-122"/>
              </a:rPr>
              <a:t>        </a:t>
            </a:r>
            <a:r>
              <a:rPr lang="zh-CN" altLang="en-US" sz="1200" b="1" u="sng">
                <a:latin typeface="Calibri" panose="020F0502020204030204"/>
                <a:ea typeface="宋体" panose="02010600030101010101" pitchFamily="2" charset="-122"/>
              </a:rPr>
              <a:t>刘艺洁 </a:t>
            </a:r>
            <a:r>
              <a:rPr lang="en-US" altLang="zh-CN" sz="1200" b="1" u="sng">
                <a:latin typeface="Calibri" panose="020F0502020204030204"/>
                <a:ea typeface="宋体" panose="02010600030101010101" pitchFamily="2" charset="-122"/>
              </a:rPr>
              <a:t>     </a:t>
            </a:r>
            <a:endParaRPr lang="en-US" altLang="zh-CN" sz="1200" b="1" u="sng">
              <a:latin typeface="Calibri" panose="020F0502020204030204"/>
              <a:ea typeface="宋体" panose="02010600030101010101" pitchFamily="2" charset="-122"/>
            </a:endParaRPr>
          </a:p>
          <a:p>
            <a:pPr marL="0" indent="688340" algn="just" defTabSz="26670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>
                <a:latin typeface="Calibri" panose="020F0502020204030204"/>
                <a:ea typeface="宋体" panose="02010600030101010101" pitchFamily="2" charset="-122"/>
              </a:rPr>
              <a:t>分 </a:t>
            </a:r>
            <a:r>
              <a:rPr lang="en-US" altLang="zh-CN" sz="1200" b="1">
                <a:latin typeface="Calibri" panose="020F0502020204030204"/>
                <a:ea typeface="宋体" panose="02010600030101010101" pitchFamily="2" charset="-122"/>
              </a:rPr>
              <a:t>   </a:t>
            </a:r>
            <a:r>
              <a:rPr lang="zh-CN" altLang="en-US" sz="1200" b="1">
                <a:latin typeface="Calibri" panose="020F0502020204030204"/>
                <a:ea typeface="宋体" panose="02010600030101010101" pitchFamily="2" charset="-122"/>
              </a:rPr>
              <a:t>数：</a:t>
            </a:r>
            <a:r>
              <a:rPr lang="en-US" altLang="zh-CN" sz="1200" b="1" u="sng">
                <a:latin typeface="Calibri" panose="020F0502020204030204"/>
                <a:ea typeface="宋体" panose="02010600030101010101" pitchFamily="2" charset="-122"/>
              </a:rPr>
              <a:t>                    </a:t>
            </a:r>
            <a:endParaRPr lang="en-US" altLang="zh-CN" sz="1200" b="1" u="sng"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32000" y="-3664584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868930" y="447040"/>
            <a:ext cx="609917" cy="514667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3579495" y="444182"/>
            <a:ext cx="2372042" cy="495617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1696720" y="3977005"/>
          <a:ext cx="6148705" cy="961390"/>
        </p:xfrm>
        <a:graphic>
          <a:graphicData uri="http://schemas.openxmlformats.org/drawingml/2006/table">
            <a:tbl>
              <a:tblPr/>
              <a:tblGrid>
                <a:gridCol w="603885"/>
                <a:gridCol w="1558925"/>
                <a:gridCol w="1022350"/>
                <a:gridCol w="1230630"/>
                <a:gridCol w="1212850"/>
                <a:gridCol w="520065"/>
              </a:tblGrid>
              <a:tr h="633095">
                <a:tc>
                  <a:txBody>
                    <a:bodyPr/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>
                          <a:latin typeface="Calibri" panose="020F0502020204030204"/>
                          <a:ea typeface="宋体" panose="02010600030101010101" pitchFamily="2" charset="-122"/>
                        </a:rPr>
                        <a:t>评分</a:t>
                      </a:r>
                      <a:endParaRPr lang="en-US" altLang="zh-CN" sz="9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>
                          <a:latin typeface="Calibri" panose="020F0502020204030204"/>
                          <a:ea typeface="宋体" panose="02010600030101010101" pitchFamily="2" charset="-122"/>
                        </a:rPr>
                        <a:t>内容</a:t>
                      </a:r>
                      <a:endParaRPr lang="en-US" altLang="zh-CN" sz="9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>
                          <a:latin typeface="Calibri" panose="020F0502020204030204"/>
                          <a:ea typeface="宋体" panose="02010600030101010101" pitchFamily="2" charset="-122"/>
                        </a:rPr>
                        <a:t>功能性：空间布局合理性、动线设计、多功能性（30分）</a:t>
                      </a:r>
                      <a:endParaRPr lang="en-US" altLang="zh-CN" sz="9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>
                          <a:latin typeface="Calibri" panose="020F0502020204030204"/>
                          <a:ea typeface="宋体" panose="02010600030101010101" pitchFamily="2" charset="-122"/>
                        </a:rPr>
                        <a:t>实用性：空间利用率、舒适性（20分）</a:t>
                      </a:r>
                      <a:endParaRPr lang="en-US" altLang="zh-CN" sz="9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>
                          <a:latin typeface="Calibri" panose="020F0502020204030204"/>
                          <a:ea typeface="宋体" panose="02010600030101010101" pitchFamily="2" charset="-122"/>
                        </a:rPr>
                        <a:t>创新性：个性化设计、智能家居系统（20分）</a:t>
                      </a:r>
                      <a:endParaRPr lang="en-US" altLang="zh-CN" sz="9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>
                          <a:latin typeface="Calibri" panose="020F0502020204030204"/>
                          <a:ea typeface="宋体" panose="02010600030101010101" pitchFamily="2" charset="-122"/>
                        </a:rPr>
                        <a:t>方案展示：效果图质量、展板制作能力（30分）</a:t>
                      </a:r>
                      <a:endParaRPr lang="en-US" altLang="zh-CN" sz="9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>
                          <a:latin typeface="Calibri" panose="020F0502020204030204"/>
                          <a:ea typeface="宋体" panose="02010600030101010101" pitchFamily="2" charset="-122"/>
                        </a:rPr>
                        <a:t>总分</a:t>
                      </a:r>
                      <a:endParaRPr lang="en-US" altLang="zh-CN" sz="9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295">
                <a:tc>
                  <a:txBody>
                    <a:bodyPr/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>
                          <a:latin typeface="Calibri" panose="020F0502020204030204"/>
                          <a:ea typeface="宋体" panose="02010600030101010101" pitchFamily="2" charset="-122"/>
                        </a:rPr>
                        <a:t>得分</a:t>
                      </a:r>
                      <a:endParaRPr lang="en-US" altLang="zh-CN" sz="9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9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9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9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9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9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2032000" y="7916544"/>
            <a:ext cx="5080000" cy="891540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6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509905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b="1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客厅效果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9144000" cy="51441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-635"/>
            <a:ext cx="9144000" cy="5144135"/>
          </a:xfrm>
          <a:prstGeom prst="rect">
            <a:avLst/>
          </a:prstGeom>
          <a:solidFill>
            <a:schemeClr val="tx1">
              <a:alpha val="3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 0"/>
          <p:cNvSpPr/>
          <p:nvPr/>
        </p:nvSpPr>
        <p:spPr>
          <a:xfrm>
            <a:off x="571500" y="2923742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5250"/>
              </a:lnSpc>
            </a:pPr>
            <a:r>
              <a:rPr lang="en-US" altLang="zh-CN" sz="375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适老化安全</a:t>
            </a:r>
            <a:r>
              <a:rPr lang="en-US" sz="3750" b="1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与居家环境优化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Text 0"/>
          <p:cNvSpPr/>
          <p:nvPr/>
        </p:nvSpPr>
        <p:spPr>
          <a:xfrm>
            <a:off x="571500" y="2078615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5250"/>
              </a:lnSpc>
            </a:pPr>
            <a:r>
              <a:rPr lang="zh-CN" altLang="en-US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专业设计二（室内空间设计）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571500" y="3797011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5250"/>
              </a:lnSpc>
            </a:pP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</a:t>
            </a:r>
            <a:r>
              <a:rPr lang="zh-CN" altLang="en-US" sz="1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号： </a:t>
            </a:r>
            <a:r>
              <a:rPr lang="en-US" altLang="zh-CN" sz="1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202419408033</a:t>
            </a:r>
            <a:r>
              <a:rPr lang="zh-CN" altLang="en-US" sz="1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姓名：</a:t>
            </a:r>
            <a:r>
              <a:rPr lang="zh-CN" altLang="en-US" sz="1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刘铮</a:t>
            </a:r>
            <a:endParaRPr lang="zh-CN" altLang="en-US" sz="1400" b="1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C:/Users/RING/Desktop/室内/微信图片_20260512193939_318_11.jpg微信图片_20260512193939_318_11"/>
          <p:cNvPicPr>
            <a:picLocks noChangeAspect="1"/>
          </p:cNvPicPr>
          <p:nvPr/>
        </p:nvPicPr>
        <p:blipFill>
          <a:blip r:embed="rId2"/>
          <a:srcRect l="4951" r="4951"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0"/>
            <a:ext cx="2952750" cy="5143500"/>
          </a:xfrm>
          <a:prstGeom prst="rect">
            <a:avLst/>
          </a:prstGeom>
          <a:solidFill>
            <a:schemeClr val="tx1">
              <a:alpha val="2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445078" y="3444153"/>
            <a:ext cx="208857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人物</a:t>
            </a:r>
            <a:r>
              <a:rPr lang="zh-CN" altLang="en-US" sz="375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en-US" sz="3750" dirty="0"/>
          </a:p>
        </p:txBody>
      </p:sp>
      <p:sp>
        <p:nvSpPr>
          <p:cNvPr id="9" name="Text 5"/>
          <p:cNvSpPr/>
          <p:nvPr/>
        </p:nvSpPr>
        <p:spPr>
          <a:xfrm>
            <a:off x="3990975" y="992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990975" y="41362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pic>
        <p:nvPicPr>
          <p:cNvPr id="2" name="图片 1" descr="微信图片_20260514214506_331_11"/>
          <p:cNvPicPr>
            <a:picLocks noChangeAspect="1"/>
          </p:cNvPicPr>
          <p:nvPr/>
        </p:nvPicPr>
        <p:blipFill>
          <a:blip r:embed="rId3"/>
          <a:srcRect b="40827"/>
          <a:stretch>
            <a:fillRect/>
          </a:stretch>
        </p:blipFill>
        <p:spPr>
          <a:xfrm>
            <a:off x="2952750" y="0"/>
            <a:ext cx="6189980" cy="51574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C:/Users/RING/Desktop/室内/微信图片_20260512194033_319_11.jpg微信图片_20260512194033_319_11"/>
          <p:cNvPicPr>
            <a:picLocks noChangeAspect="1"/>
          </p:cNvPicPr>
          <p:nvPr/>
        </p:nvPicPr>
        <p:blipFill>
          <a:blip r:embed="rId2"/>
          <a:srcRect l="12716" r="12716"/>
          <a:stretch>
            <a:fillRect/>
          </a:stretch>
        </p:blipFill>
        <p:spPr>
          <a:xfrm>
            <a:off x="0" y="0"/>
            <a:ext cx="3004185" cy="51435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0" y="0"/>
            <a:ext cx="3004185" cy="5143500"/>
          </a:xfrm>
          <a:prstGeom prst="rect">
            <a:avLst/>
          </a:prstGeom>
          <a:solidFill>
            <a:schemeClr val="tx1">
              <a:alpha val="2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3524250" y="6738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b="1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990975" y="7453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老龄化社会背景与适老化需求紧迫性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990975" y="992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b="1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 err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前期调研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b="1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 err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适老化安全</a:t>
            </a:r>
            <a:r>
              <a:rPr lang="zh-CN" altLang="en-US" sz="1200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设计亮点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b="1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平面图（功能分区图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、索引</a:t>
            </a:r>
            <a:r>
              <a:rPr lang="zh-CN" altLang="en-US" sz="1200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图、铺装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、插座图、吊顶放线</a:t>
            </a:r>
            <a:r>
              <a:rPr lang="zh-CN" altLang="en-US" sz="1200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图）</a:t>
            </a:r>
            <a:endParaRPr lang="en-US" sz="1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524250" y="31884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b="1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990975" y="3259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客厅立面图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524250" y="38171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875" b="1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3990975" y="3888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效果图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990975" y="41362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微信图片_20260513002550_321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1435" y="0"/>
            <a:ext cx="2561590" cy="5143500"/>
          </a:xfrm>
          <a:prstGeom prst="rect">
            <a:avLst/>
          </a:prstGeom>
        </p:spPr>
      </p:pic>
      <p:pic>
        <p:nvPicPr>
          <p:cNvPr id="9" name="图片 8" descr="微信图片_20260513002550_321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6195" y="0"/>
            <a:ext cx="2561590" cy="5143500"/>
          </a:xfrm>
          <a:prstGeom prst="rect">
            <a:avLst/>
          </a:prstGeom>
        </p:spPr>
      </p:pic>
      <p:pic>
        <p:nvPicPr>
          <p:cNvPr id="8" name="图片 7" descr="微信图片_20260513002550_321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1590" y="0"/>
            <a:ext cx="2561590" cy="5143500"/>
          </a:xfrm>
          <a:prstGeom prst="rect">
            <a:avLst/>
          </a:prstGeom>
        </p:spPr>
      </p:pic>
      <p:pic>
        <p:nvPicPr>
          <p:cNvPr id="7" name="图片 6" descr="微信图片_20260513002550_321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56159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老龄化社会背景与适老化需求紧迫性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3B2510">
                    <a:alpha val="8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b="1" dirty="0">
              <a:solidFill>
                <a:srgbClr val="3B2510">
                  <a:alpha val="82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8" name="图片 17" descr="微信图片_20260513002550_321_11"/>
          <p:cNvPicPr>
            <a:picLocks noChangeAspect="1"/>
          </p:cNvPicPr>
          <p:nvPr/>
        </p:nvPicPr>
        <p:blipFill>
          <a:blip r:embed="rId2"/>
          <a:srcRect l="2082" t="-531" r="27888" b="531"/>
          <a:stretch>
            <a:fillRect/>
          </a:stretch>
        </p:blipFill>
        <p:spPr>
          <a:xfrm rot="16200000">
            <a:off x="1674495" y="-1675130"/>
            <a:ext cx="1793875" cy="5143500"/>
          </a:xfrm>
          <a:prstGeom prst="rect">
            <a:avLst/>
          </a:prstGeom>
        </p:spPr>
      </p:pic>
      <p:pic>
        <p:nvPicPr>
          <p:cNvPr id="19" name="图片 18" descr="微信图片_20260513002550_321_11"/>
          <p:cNvPicPr>
            <a:picLocks noChangeAspect="1"/>
          </p:cNvPicPr>
          <p:nvPr/>
        </p:nvPicPr>
        <p:blipFill>
          <a:blip r:embed="rId2"/>
          <a:srcRect l="2082" t="-531" r="27888" b="11667"/>
          <a:stretch>
            <a:fillRect/>
          </a:stretch>
        </p:blipFill>
        <p:spPr>
          <a:xfrm rot="16200000">
            <a:off x="5975350" y="-1388745"/>
            <a:ext cx="1793875" cy="4570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925" y="49657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人口结构变迁推动居家养老成为主流模式，超五成老年人居住于房龄超过20年的老旧住宅中</a:t>
            </a:r>
            <a:endParaRPr lang="en-US" sz="22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400050" y="1847850"/>
            <a:ext cx="4171950" cy="1414463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5"/>
            </p:custDataLst>
          </p:nvPr>
        </p:nvSpPr>
        <p:spPr>
          <a:xfrm>
            <a:off x="600075" y="1952625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居家养老主流化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6"/>
            </p:custDataLst>
          </p:nvPr>
        </p:nvSpPr>
        <p:spPr>
          <a:xfrm>
            <a:off x="600075" y="2243138"/>
            <a:ext cx="25717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我国超七成老年人选择居家养老，家庭成为养老服务的核心场域。人口老龄化持续加深，推动居家养老从传统模式向专业化、安全化转型，亟需环境支撑。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4572000" y="1847850"/>
            <a:ext cx="4171950" cy="1414463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9"/>
            </p:custDataLst>
          </p:nvPr>
        </p:nvSpPr>
        <p:spPr>
          <a:xfrm>
            <a:off x="5972175" y="1952625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老旧住宅占比高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10"/>
            </p:custDataLst>
          </p:nvPr>
        </p:nvSpPr>
        <p:spPr>
          <a:xfrm>
            <a:off x="5972175" y="2243138"/>
            <a:ext cx="25717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超过50%老年人居住在房龄20年以上的老旧住宅中，建筑设施陈旧，难以满足老年群体的安全与便利需求，适老化改造迫在眉睫。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400050" y="3262313"/>
            <a:ext cx="4171950" cy="1414463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3"/>
            </p:custDataLst>
          </p:nvPr>
        </p:nvSpPr>
        <p:spPr>
          <a:xfrm>
            <a:off x="600075" y="3469481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双重风险叠加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4"/>
            </p:custDataLst>
          </p:nvPr>
        </p:nvSpPr>
        <p:spPr>
          <a:xfrm>
            <a:off x="600075" y="3759994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建筑性能退化与身体机能衰退相互交织，形成跌倒、滑倒等安全隐患的高发环境。居家生活面临从‘舒适’向‘危险’转化的风险。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4572000" y="3262313"/>
            <a:ext cx="4171950" cy="1414463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7"/>
            </p:custDataLst>
          </p:nvPr>
        </p:nvSpPr>
        <p:spPr>
          <a:xfrm>
            <a:off x="5972175" y="3367088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改造刻不容缓</a:t>
            </a:r>
            <a:endParaRPr lang="en-US" sz="1200" dirty="0"/>
          </a:p>
        </p:txBody>
      </p:sp>
      <p:sp>
        <p:nvSpPr>
          <p:cNvPr id="17" name="Text 10"/>
          <p:cNvSpPr/>
          <p:nvPr>
            <p:custDataLst>
              <p:tags r:id="rId18"/>
            </p:custDataLst>
          </p:nvPr>
        </p:nvSpPr>
        <p:spPr>
          <a:xfrm>
            <a:off x="5972175" y="3657600"/>
            <a:ext cx="25717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适老化改造不仅是住房升级，更是对老年尊严与生命安全的保障。应加快从局部试点向普惠性政策推广，构建安全宜居的居家养老环境。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328" r="328"/>
          <a:stretch>
            <a:fillRect/>
          </a:stretch>
        </p:blipFill>
        <p:spPr>
          <a:xfrm>
            <a:off x="0" y="0"/>
            <a:ext cx="9144000" cy="5176838"/>
          </a:xfrm>
          <a:prstGeom prst="rect">
            <a:avLst/>
          </a:prstGeom>
        </p:spPr>
      </p:pic>
      <p:pic>
        <p:nvPicPr>
          <p:cNvPr id="22" name="图片 21" descr="微信图片_20260513002550_321_11"/>
          <p:cNvPicPr>
            <a:picLocks noChangeAspect="1"/>
          </p:cNvPicPr>
          <p:nvPr/>
        </p:nvPicPr>
        <p:blipFill>
          <a:blip r:embed="rId2"/>
          <a:srcRect l="2082" t="-531" r="27888" b="531"/>
          <a:stretch>
            <a:fillRect/>
          </a:stretch>
        </p:blipFill>
        <p:spPr>
          <a:xfrm rot="16200000">
            <a:off x="1674495" y="-1675130"/>
            <a:ext cx="1793875" cy="5143500"/>
          </a:xfrm>
          <a:prstGeom prst="rect">
            <a:avLst/>
          </a:prstGeom>
        </p:spPr>
      </p:pic>
      <p:pic>
        <p:nvPicPr>
          <p:cNvPr id="23" name="图片 22" descr="微信图片_20260513002550_321_11"/>
          <p:cNvPicPr>
            <a:picLocks noChangeAspect="1"/>
          </p:cNvPicPr>
          <p:nvPr/>
        </p:nvPicPr>
        <p:blipFill>
          <a:blip r:embed="rId2"/>
          <a:srcRect l="2082" t="-531" r="27888" b="11667"/>
          <a:stretch>
            <a:fillRect/>
          </a:stretch>
        </p:blipFill>
        <p:spPr>
          <a:xfrm rot="16200000">
            <a:off x="5975350" y="-1388745"/>
            <a:ext cx="1793875" cy="45707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身体机能衰退与建筑性能退化叠加，形成安全隐患高发的双重风险环境</a:t>
            </a:r>
            <a:endParaRPr lang="en-US" sz="22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828800"/>
            <a:ext cx="8382000" cy="31575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5313" y="381952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居住风险叠加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95313" y="4071937"/>
            <a:ext cx="2362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老年人身体机能衰退与老旧住宅性能下降相互影响，加剧了居住环境的安全隐患。高龄住户与老房条件形成双重风险。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595313" y="28432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老旧住房普遍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5313" y="3095625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超过六成老年人居住在房龄20年以上的建筑中，房屋设施陈旧，难以满足安全居住需求。基础设施老化问题突出。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居家安全隐患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5313" y="2119313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普遍存在湿滑地面、缺少扶手、照明不足等问题，显著增加老年人居家生活风险。环境设计缺乏适老考量。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186488" y="19716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跌倒事故频发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86488" y="2224088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近半数老年人跌倒事故发生在家中，反映出住宅环境与身体能力不匹配。跌倒是威胁老年安全的主要因素之一。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186488" y="294798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适改迫在眉睫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86488" y="3200400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推进适老化改造已成为当务之急，需系统性优化居住环境。改造有助于消除潜在危险源。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186488" y="39243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提升安全尊严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86488" y="4176713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适老化改造不仅降低意外发生率，还能保障老年人的生活质量与基本尊严。是积极应对老龄化的重要举措。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8" name="图片 17" descr="微信图片_20260513002550_321_11"/>
          <p:cNvPicPr>
            <a:picLocks noChangeAspect="1"/>
          </p:cNvPicPr>
          <p:nvPr/>
        </p:nvPicPr>
        <p:blipFill>
          <a:blip r:embed="rId2"/>
          <a:srcRect l="2082" t="-531" r="27888" b="531"/>
          <a:stretch>
            <a:fillRect/>
          </a:stretch>
        </p:blipFill>
        <p:spPr>
          <a:xfrm rot="16200000">
            <a:off x="1674495" y="-1675130"/>
            <a:ext cx="1793875" cy="5143500"/>
          </a:xfrm>
          <a:prstGeom prst="rect">
            <a:avLst/>
          </a:prstGeom>
        </p:spPr>
      </p:pic>
      <p:pic>
        <p:nvPicPr>
          <p:cNvPr id="19" name="图片 18" descr="微信图片_20260513002550_321_11"/>
          <p:cNvPicPr>
            <a:picLocks noChangeAspect="1"/>
          </p:cNvPicPr>
          <p:nvPr/>
        </p:nvPicPr>
        <p:blipFill>
          <a:blip r:embed="rId2"/>
          <a:srcRect l="2082" t="-531" r="27888" b="11667"/>
          <a:stretch>
            <a:fillRect/>
          </a:stretch>
        </p:blipFill>
        <p:spPr>
          <a:xfrm rot="16200000">
            <a:off x="5975350" y="-1388745"/>
            <a:ext cx="1793875" cy="45707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跌倒已成为家庭环境中威胁老年人生命安全的主要因素，近半数发生于家中日常活动场景</a:t>
            </a:r>
            <a:endParaRPr lang="en-US" sz="22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828800"/>
            <a:ext cx="8382000" cy="20526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1050" y="186690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居家高发地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81050" y="2243138"/>
            <a:ext cx="1557338" cy="1504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老年人跌倒超半数发生于家中，尤其集中在卧室至卫生间路径及浴室等区域。夜间行走和如厕洗澡时风险显著升高。这些日常活动成为事故高发场景。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2757488" y="186690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环境隐患多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57488" y="2243138"/>
            <a:ext cx="1557338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门槛、照明不足、地面湿滑及缺乏扶手等细节长期被忽视。这些因素构成隐蔽但持续的安全威胁。尤其对行动不便者风险更大。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733925" y="186690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跌倒后果重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33925" y="2243138"/>
            <a:ext cx="155733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一次跌倒可能导致骨折，甚至引发生命危险。股骨骨折后并发症频发，恢复困难。严重影响健康与生活质量。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710363" y="186690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尊严受影响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710363" y="2243138"/>
            <a:ext cx="155733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防护缺失不仅损害身体健康，还削弱老年人独立生活能力。长期影响其居家生活的品质与尊严。心理负担也随之增加。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8" name="图片 17" descr="微信图片_20260513002550_321_11"/>
          <p:cNvPicPr>
            <a:picLocks noChangeAspect="1"/>
          </p:cNvPicPr>
          <p:nvPr/>
        </p:nvPicPr>
        <p:blipFill>
          <a:blip r:embed="rId2"/>
          <a:srcRect l="2082" t="-531" r="27888" b="531"/>
          <a:stretch>
            <a:fillRect/>
          </a:stretch>
        </p:blipFill>
        <p:spPr>
          <a:xfrm rot="16200000">
            <a:off x="1674495" y="-1675130"/>
            <a:ext cx="1793875" cy="5143500"/>
          </a:xfrm>
          <a:prstGeom prst="rect">
            <a:avLst/>
          </a:prstGeom>
        </p:spPr>
      </p:pic>
      <p:pic>
        <p:nvPicPr>
          <p:cNvPr id="19" name="图片 18" descr="微信图片_20260513002550_321_11"/>
          <p:cNvPicPr>
            <a:picLocks noChangeAspect="1"/>
          </p:cNvPicPr>
          <p:nvPr/>
        </p:nvPicPr>
        <p:blipFill>
          <a:blip r:embed="rId2"/>
          <a:srcRect l="2082" t="-531" r="27888" b="11667"/>
          <a:stretch>
            <a:fillRect/>
          </a:stretch>
        </p:blipFill>
        <p:spPr>
          <a:xfrm rot="16200000">
            <a:off x="5975350" y="-1388745"/>
            <a:ext cx="1793875" cy="4570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适老化改造不仅是空间升级，更是对老年群体生活尊严与安全保障的核心回应</a:t>
            </a:r>
            <a:endParaRPr lang="en-US" sz="22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847850"/>
            <a:ext cx="2085975" cy="2757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现状严峻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1381125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超六成老年人居住在20年以上房龄的老旧住宅中，建筑设施老化与身体机能衰退叠加，形成高风险生活环境，安全隐患日益突出。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86025" y="1847850"/>
            <a:ext cx="2085975" cy="27574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跌倒高发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919412"/>
            <a:ext cx="1381125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近半数老年人跌倒发生在家中，浴室湿滑、无扶手、照明不足等“隐形陷阱”是主因，一次跌倒可能引发严重健康后果甚至危及生命。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1847850"/>
            <a:ext cx="2085975" cy="27574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尊严保障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919412"/>
            <a:ext cx="1381125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适老化改造不仅预防事故，更让老人独立如厕、安全行走，维护其自主生活能力，是对晚年尊严的切实尊重与支持。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57975" y="1847850"/>
            <a:ext cx="2085975" cy="27574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综合回应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919412"/>
            <a:ext cx="138112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通过安全性、支持性与健康性三位一体改造，系统性提升居家环境品质，实现从生存保障到生活质量的全面升级。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客餐厅效果图"/>
          <p:cNvPicPr>
            <a:picLocks noChangeAspect="1"/>
          </p:cNvPicPr>
          <p:nvPr/>
        </p:nvPicPr>
        <p:blipFill>
          <a:blip r:embed="rId1"/>
          <a:srcRect l="5925" r="5937"/>
          <a:stretch>
            <a:fillRect/>
          </a:stretch>
        </p:blipFill>
        <p:spPr>
          <a:xfrm>
            <a:off x="0" y="0"/>
            <a:ext cx="9144000" cy="51441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35" y="0"/>
            <a:ext cx="9148445" cy="5144135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 0"/>
          <p:cNvSpPr/>
          <p:nvPr/>
        </p:nvSpPr>
        <p:spPr>
          <a:xfrm>
            <a:off x="6702425" y="2633345"/>
            <a:ext cx="209169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前期调研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4031615" y="4143057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52400" y="278511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9D8061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b="1" dirty="0">
              <a:solidFill>
                <a:srgbClr val="9D8061">
                  <a:alpha val="92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4355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3614" r="3614"/>
          <a:stretch>
            <a:fillRect/>
          </a:stretch>
        </p:blipFill>
        <p:spPr>
          <a:xfrm>
            <a:off x="0" y="0"/>
            <a:ext cx="9144000" cy="5543550"/>
          </a:xfrm>
          <a:prstGeom prst="rect">
            <a:avLst/>
          </a:prstGeom>
        </p:spPr>
      </p:pic>
      <p:pic>
        <p:nvPicPr>
          <p:cNvPr id="27" name="图片 26" descr="微信图片_20260513002550_321_11"/>
          <p:cNvPicPr>
            <a:picLocks noChangeAspect="1"/>
          </p:cNvPicPr>
          <p:nvPr/>
        </p:nvPicPr>
        <p:blipFill>
          <a:blip r:embed="rId2"/>
          <a:srcRect l="2082" t="-531" r="27888" b="531"/>
          <a:stretch>
            <a:fillRect/>
          </a:stretch>
        </p:blipFill>
        <p:spPr>
          <a:xfrm rot="16200000">
            <a:off x="1674495" y="-1675130"/>
            <a:ext cx="1793875" cy="5143500"/>
          </a:xfrm>
          <a:prstGeom prst="rect">
            <a:avLst/>
          </a:prstGeom>
        </p:spPr>
      </p:pic>
      <p:pic>
        <p:nvPicPr>
          <p:cNvPr id="28" name="图片 27" descr="微信图片_20260513002550_321_11"/>
          <p:cNvPicPr>
            <a:picLocks noChangeAspect="1"/>
          </p:cNvPicPr>
          <p:nvPr/>
        </p:nvPicPr>
        <p:blipFill>
          <a:blip r:embed="rId2"/>
          <a:srcRect l="2082" t="-531" r="27888" b="11667"/>
          <a:stretch>
            <a:fillRect/>
          </a:stretch>
        </p:blipFill>
        <p:spPr>
          <a:xfrm rot="16200000">
            <a:off x="5975350" y="-1388745"/>
            <a:ext cx="1793875" cy="45707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调研揭示普遍存在的‘隐形陷阱’：湿滑地面、缺乏扶手、照明不足、门槛障碍等高频风险点</a:t>
            </a:r>
            <a:endParaRPr lang="en-US" sz="22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828800"/>
            <a:ext cx="8382000" cy="3524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09713" y="3448050"/>
            <a:ext cx="10763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居家安全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3633788" y="19716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防滑措施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900613" y="1866900"/>
            <a:ext cx="3238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使用防滑地砖，减少浴室厨房等湿滑区域的滑倒风险。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900613" y="2114550"/>
            <a:ext cx="3238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铺设防滑垫，增强地面摩擦力，提升行走稳定性。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3633788" y="25622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扶手安装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900613" y="2457450"/>
            <a:ext cx="29718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在马桶旁加装扶手，帮助老人起坐时保持平衡。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900613" y="2705100"/>
            <a:ext cx="29718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淋浴区设置安全扶手，防止湿滑环境中失稳跌倒。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633788" y="31527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照明优化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900613" y="3048000"/>
            <a:ext cx="3238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走廊楼梯增设感应灯，避免光线不足造成的视觉盲区。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900613" y="3295650"/>
            <a:ext cx="3238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采用连续照明系统，保障夜间行走路径清晰可见。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3633788" y="37433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无障碍通行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900613" y="3638550"/>
            <a:ext cx="3238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消除地面高差，降低门槛对行动迟缓老人的绊倒风险。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900613" y="3886200"/>
            <a:ext cx="3238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加装过渡斜坡，实现室内各区域平顺连接，方便通行。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3633788" y="43338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风险区域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900613" y="4229100"/>
            <a:ext cx="3238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浴室易积水，是老年人跌倒的高发区域，需重点防护。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900613" y="4476750"/>
            <a:ext cx="3238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厨房地面湿滑，操作频繁，应加强防滑与清洁管理。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633788" y="49244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视觉辅助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900613" y="4819650"/>
            <a:ext cx="3238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通过明亮色彩区分不同区域，帮助老人识别空间边界。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900613" y="5067300"/>
            <a:ext cx="3238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设置醒目标识提示危险区域，如‘小心地滑’警示牌。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75895" y="16510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4F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r>
              <a:rPr lang="zh-CN" altLang="en-US" sz="1200" b="1" dirty="0">
                <a:solidFill>
                  <a:srgbClr val="004F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卫生间区</a:t>
            </a:r>
            <a:endParaRPr lang="zh-CN" altLang="en-US" sz="1200" b="1" dirty="0">
              <a:solidFill>
                <a:srgbClr val="004F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4" name="图片 3" descr="微信图片_20260419195634_758_15"/>
          <p:cNvPicPr>
            <a:picLocks noChangeAspect="1"/>
          </p:cNvPicPr>
          <p:nvPr/>
        </p:nvPicPr>
        <p:blipFill>
          <a:blip r:embed="rId2"/>
          <a:srcRect r="7558" b="-28"/>
          <a:stretch>
            <a:fillRect/>
          </a:stretch>
        </p:blipFill>
        <p:spPr>
          <a:xfrm>
            <a:off x="175895" y="539750"/>
            <a:ext cx="2500630" cy="2030095"/>
          </a:xfrm>
          <a:prstGeom prst="rect">
            <a:avLst/>
          </a:prstGeom>
        </p:spPr>
      </p:pic>
      <p:sp>
        <p:nvSpPr>
          <p:cNvPr id="6" name="Text 6"/>
          <p:cNvSpPr/>
          <p:nvPr/>
        </p:nvSpPr>
        <p:spPr>
          <a:xfrm>
            <a:off x="175895" y="2673985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4F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r>
              <a:rPr lang="zh-CN" altLang="en-US" sz="1200" b="1" dirty="0">
                <a:solidFill>
                  <a:srgbClr val="004F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阳台区</a:t>
            </a:r>
            <a:endParaRPr lang="zh-CN" altLang="en-US" sz="1200" b="1" dirty="0">
              <a:solidFill>
                <a:srgbClr val="004F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6"/>
          <p:cNvSpPr/>
          <p:nvPr/>
        </p:nvSpPr>
        <p:spPr>
          <a:xfrm>
            <a:off x="4417060" y="267716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4F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r>
              <a:rPr lang="zh-CN" altLang="en-US" sz="1200" b="1" dirty="0">
                <a:solidFill>
                  <a:srgbClr val="004F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入口处</a:t>
            </a:r>
            <a:endParaRPr lang="zh-CN" altLang="en-US" sz="1200" b="1" dirty="0">
              <a:solidFill>
                <a:srgbClr val="004F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8" name="图片 7" descr="微信图片_20260419195638_760_15"/>
          <p:cNvPicPr>
            <a:picLocks noChangeAspect="1"/>
          </p:cNvPicPr>
          <p:nvPr/>
        </p:nvPicPr>
        <p:blipFill>
          <a:blip r:embed="rId3"/>
          <a:srcRect r="-149" b="6206"/>
          <a:stretch>
            <a:fillRect/>
          </a:stretch>
        </p:blipFill>
        <p:spPr>
          <a:xfrm>
            <a:off x="2718435" y="539750"/>
            <a:ext cx="1620520" cy="2032635"/>
          </a:xfrm>
          <a:prstGeom prst="rect">
            <a:avLst/>
          </a:prstGeom>
        </p:spPr>
      </p:pic>
      <p:pic>
        <p:nvPicPr>
          <p:cNvPr id="12" name="图片 11" descr="微信图片_20260419195648_767_15"/>
          <p:cNvPicPr>
            <a:picLocks noChangeAspect="1"/>
          </p:cNvPicPr>
          <p:nvPr/>
        </p:nvPicPr>
        <p:blipFill>
          <a:blip r:embed="rId4"/>
          <a:srcRect l="3284" t="5364" r="9825" b="3025"/>
          <a:stretch>
            <a:fillRect/>
          </a:stretch>
        </p:blipFill>
        <p:spPr>
          <a:xfrm>
            <a:off x="4417060" y="539750"/>
            <a:ext cx="1471295" cy="2037080"/>
          </a:xfrm>
          <a:prstGeom prst="rect">
            <a:avLst/>
          </a:prstGeom>
        </p:spPr>
      </p:pic>
      <p:pic>
        <p:nvPicPr>
          <p:cNvPr id="13" name="图片 12" descr="微信图片_20260419195647_766_15"/>
          <p:cNvPicPr>
            <a:picLocks noChangeAspect="1"/>
          </p:cNvPicPr>
          <p:nvPr/>
        </p:nvPicPr>
        <p:blipFill>
          <a:blip r:embed="rId5"/>
          <a:srcRect t="3210" r="-1179"/>
          <a:stretch>
            <a:fillRect/>
          </a:stretch>
        </p:blipFill>
        <p:spPr>
          <a:xfrm>
            <a:off x="5966460" y="539750"/>
            <a:ext cx="1594485" cy="2022475"/>
          </a:xfrm>
          <a:prstGeom prst="rect">
            <a:avLst/>
          </a:prstGeom>
        </p:spPr>
      </p:pic>
      <p:pic>
        <p:nvPicPr>
          <p:cNvPr id="14" name="图片 13" descr="微信图片_20260419205034_782_15"/>
          <p:cNvPicPr>
            <a:picLocks noChangeAspect="1"/>
          </p:cNvPicPr>
          <p:nvPr/>
        </p:nvPicPr>
        <p:blipFill>
          <a:blip r:embed="rId6"/>
          <a:srcRect r="-1148" b="6483"/>
          <a:stretch>
            <a:fillRect/>
          </a:stretch>
        </p:blipFill>
        <p:spPr>
          <a:xfrm>
            <a:off x="1081405" y="2677160"/>
            <a:ext cx="1861820" cy="2295525"/>
          </a:xfrm>
          <a:prstGeom prst="rect">
            <a:avLst/>
          </a:prstGeom>
        </p:spPr>
      </p:pic>
      <p:pic>
        <p:nvPicPr>
          <p:cNvPr id="15" name="图片 14" descr="微信图片_20260419215120_819_15"/>
          <p:cNvPicPr>
            <a:picLocks noChangeAspect="1"/>
          </p:cNvPicPr>
          <p:nvPr/>
        </p:nvPicPr>
        <p:blipFill>
          <a:blip r:embed="rId7"/>
          <a:srcRect t="19679" r="-1480" b="19333"/>
          <a:stretch>
            <a:fillRect/>
          </a:stretch>
        </p:blipFill>
        <p:spPr>
          <a:xfrm>
            <a:off x="5252720" y="2677160"/>
            <a:ext cx="1726565" cy="2303780"/>
          </a:xfrm>
          <a:prstGeom prst="rect">
            <a:avLst/>
          </a:prstGeom>
        </p:spPr>
      </p:pic>
      <p:pic>
        <p:nvPicPr>
          <p:cNvPr id="16" name="图片 15" descr="微信图片_20260419215118_818_15"/>
          <p:cNvPicPr>
            <a:picLocks noChangeAspect="1"/>
          </p:cNvPicPr>
          <p:nvPr/>
        </p:nvPicPr>
        <p:blipFill>
          <a:blip r:embed="rId8"/>
          <a:srcRect t="19679" r="164" b="20358"/>
          <a:stretch>
            <a:fillRect/>
          </a:stretch>
        </p:blipFill>
        <p:spPr>
          <a:xfrm>
            <a:off x="7100570" y="2677160"/>
            <a:ext cx="1715135" cy="2287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微信图片_20260513011146_326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6350" y="0"/>
            <a:ext cx="9130665" cy="51435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350" y="0"/>
            <a:ext cx="9130665" cy="51435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</a:t>
            </a:r>
            <a:r>
              <a:rPr lang="zh-CN" altLang="en-US" sz="375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老化亮点设计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A2785C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b="1" dirty="0">
              <a:solidFill>
                <a:srgbClr val="A2785C">
                  <a:alpha val="9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7" name="图片 26" descr="微信图片_20260513002550_321_11"/>
          <p:cNvPicPr>
            <a:picLocks noChangeAspect="1"/>
          </p:cNvPicPr>
          <p:nvPr/>
        </p:nvPicPr>
        <p:blipFill>
          <a:blip r:embed="rId2"/>
          <a:srcRect l="2082" t="-531" r="27888" b="531"/>
          <a:stretch>
            <a:fillRect/>
          </a:stretch>
        </p:blipFill>
        <p:spPr>
          <a:xfrm rot="16200000">
            <a:off x="1674495" y="-1675130"/>
            <a:ext cx="1793875" cy="5143500"/>
          </a:xfrm>
          <a:prstGeom prst="rect">
            <a:avLst/>
          </a:prstGeom>
        </p:spPr>
      </p:pic>
      <p:pic>
        <p:nvPicPr>
          <p:cNvPr id="28" name="图片 27" descr="微信图片_20260513002550_321_11"/>
          <p:cNvPicPr>
            <a:picLocks noChangeAspect="1"/>
          </p:cNvPicPr>
          <p:nvPr/>
        </p:nvPicPr>
        <p:blipFill>
          <a:blip r:embed="rId2"/>
          <a:srcRect l="2082" t="-531" r="27888" b="11667"/>
          <a:stretch>
            <a:fillRect/>
          </a:stretch>
        </p:blipFill>
        <p:spPr>
          <a:xfrm rot="16200000">
            <a:off x="5975350" y="-1388745"/>
            <a:ext cx="1793875" cy="4570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确立五大改造领域：室内行走便利、如厕洗澡安全、居家环境改善、智能监测跟进、辅助器具适配</a:t>
            </a:r>
            <a:endParaRPr lang="en-US" sz="22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1190625" y="240030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5"/>
            </p:custDataLst>
          </p:nvPr>
        </p:nvSpPr>
        <p:spPr>
          <a:xfrm>
            <a:off x="571500" y="29908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行走便利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6"/>
            </p:custDataLst>
          </p:nvPr>
        </p:nvSpPr>
        <p:spPr>
          <a:xfrm>
            <a:off x="571500" y="3238500"/>
            <a:ext cx="1714500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优化室内动线设计，消除门槛高差，确保轮椅与助行器顺畅通行。采用防滑地面材料并增设连续扶手，提升老年人行走稳定性与安全感。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3286125" y="240030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9"/>
            </p:custDataLst>
          </p:nvPr>
        </p:nvSpPr>
        <p:spPr>
          <a:xfrm>
            <a:off x="2667000" y="29908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如厕洗澡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10"/>
            </p:custDataLst>
          </p:nvPr>
        </p:nvSpPr>
        <p:spPr>
          <a:xfrm>
            <a:off x="2667000" y="3238500"/>
            <a:ext cx="1714500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卫生间加装安全扶手、坐式淋浴器和防滑地垫，降低跌倒风险。采用恒温水龙头与易清洁材质，兼顾使用安全与日常维护便捷性。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5381625" y="240030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3"/>
            </p:custDataLst>
          </p:nvPr>
        </p:nvSpPr>
        <p:spPr>
          <a:xfrm>
            <a:off x="4762500" y="29908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环境改善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4"/>
            </p:custDataLst>
          </p:nvPr>
        </p:nvSpPr>
        <p:spPr>
          <a:xfrm>
            <a:off x="4762500" y="3238500"/>
            <a:ext cx="1714500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提升照明亮度，设置夜间感应灯带，保障起夜路径清晰可见。改善通风与色彩对比度，增强空间识别性与居住舒适度。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7477125" y="240030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7"/>
            </p:custDataLst>
          </p:nvPr>
        </p:nvSpPr>
        <p:spPr>
          <a:xfrm>
            <a:off x="6858000" y="29908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智能监测</a:t>
            </a:r>
            <a:endParaRPr lang="en-US" sz="1200" dirty="0"/>
          </a:p>
        </p:txBody>
      </p:sp>
      <p:sp>
        <p:nvSpPr>
          <p:cNvPr id="17" name="Text 10"/>
          <p:cNvSpPr/>
          <p:nvPr>
            <p:custDataLst>
              <p:tags r:id="rId18"/>
            </p:custDataLst>
          </p:nvPr>
        </p:nvSpPr>
        <p:spPr>
          <a:xfrm>
            <a:off x="6858000" y="3238500"/>
            <a:ext cx="1714500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部署紧急呼叫按钮与毫米波雷达，实现跌倒自动报警。结合智能穿戴设备实时监测体征变化，及时预警健康异常状况。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10185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如厕洗澡安全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0" name="Text 5"/>
          <p:cNvSpPr/>
          <p:nvPr>
            <p:custDataLst>
              <p:tags r:id="rId2"/>
            </p:custDataLst>
          </p:nvPr>
        </p:nvSpPr>
        <p:spPr>
          <a:xfrm>
            <a:off x="571500" y="105029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如厕洗澡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3"/>
            </p:custDataLst>
          </p:nvPr>
        </p:nvSpPr>
        <p:spPr>
          <a:xfrm>
            <a:off x="1809115" y="757555"/>
            <a:ext cx="5832475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卫生间加装安全扶手、坐式淋浴器和防滑地垫，降低跌倒风险。采用恒温水龙头与易清洁材质，兼顾使用安全与日常维护便捷性。</a:t>
            </a:r>
            <a:endParaRPr lang="en-US" sz="1050" dirty="0"/>
          </a:p>
        </p:txBody>
      </p:sp>
      <p:pic>
        <p:nvPicPr>
          <p:cNvPr id="18" name="图片 17" descr="ScreenShot_2026-05-06_101014_1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30" y="1727200"/>
            <a:ext cx="4257040" cy="2369820"/>
          </a:xfrm>
          <a:prstGeom prst="rect">
            <a:avLst/>
          </a:prstGeom>
        </p:spPr>
      </p:pic>
      <p:pic>
        <p:nvPicPr>
          <p:cNvPr id="19" name="图片 18" descr="screenshot-20260506-1011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1727200"/>
            <a:ext cx="4265930" cy="2432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微信图片_20260513013012_329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428625"/>
            <a:ext cx="914273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平面图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9D8061">
                    <a:alpha val="98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b="1" dirty="0">
              <a:solidFill>
                <a:srgbClr val="9D8061">
                  <a:alpha val="98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4463" y="31587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功能分区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</a:t>
            </a:r>
            <a:endParaRPr lang="zh-CN" altLang="en-US" dirty="0"/>
          </a:p>
        </p:txBody>
      </p:sp>
      <p:pic>
        <p:nvPicPr>
          <p:cNvPr id="4" name="图片 3" descr="平面布置图 (2)"/>
          <p:cNvPicPr>
            <a:picLocks noChangeAspect="1"/>
          </p:cNvPicPr>
          <p:nvPr/>
        </p:nvPicPr>
        <p:blipFill>
          <a:blip r:embed="rId1"/>
          <a:srcRect l="2912" t="4481" r="1969" b="3951"/>
          <a:stretch>
            <a:fillRect/>
          </a:stretch>
        </p:blipFill>
        <p:spPr>
          <a:xfrm>
            <a:off x="1685925" y="230505"/>
            <a:ext cx="5829300" cy="4709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5636" y="253531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</a:t>
            </a:r>
            <a:endParaRPr lang="zh-CN" altLang="en-US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3" name="图片 2" descr="立面索引图"/>
          <p:cNvPicPr>
            <a:picLocks noChangeAspect="1"/>
          </p:cNvPicPr>
          <p:nvPr/>
        </p:nvPicPr>
        <p:blipFill>
          <a:blip r:embed="rId1"/>
          <a:srcRect l="2187" t="4926" r="1378" b="3667"/>
          <a:stretch>
            <a:fillRect/>
          </a:stretch>
        </p:blipFill>
        <p:spPr>
          <a:xfrm>
            <a:off x="1642110" y="253365"/>
            <a:ext cx="5909310" cy="4701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7428" y="149621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铺装图</a:t>
            </a:r>
            <a:endParaRPr lang="zh-CN" altLang="en-US" dirty="0"/>
          </a:p>
        </p:txBody>
      </p:sp>
      <p:pic>
        <p:nvPicPr>
          <p:cNvPr id="3" name="图片 2" descr="铺装图"/>
          <p:cNvPicPr>
            <a:picLocks noChangeAspect="1"/>
          </p:cNvPicPr>
          <p:nvPr/>
        </p:nvPicPr>
        <p:blipFill>
          <a:blip r:embed="rId1"/>
          <a:srcRect l="1119" t="4765" b="4654"/>
          <a:stretch>
            <a:fillRect/>
          </a:stretch>
        </p:blipFill>
        <p:spPr>
          <a:xfrm>
            <a:off x="1576705" y="245110"/>
            <a:ext cx="6059170" cy="4658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796" y="30607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吊顶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放线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</a:t>
            </a:r>
            <a:endParaRPr lang="zh-CN" altLang="en-US" dirty="0"/>
          </a:p>
        </p:txBody>
      </p:sp>
      <p:pic>
        <p:nvPicPr>
          <p:cNvPr id="3" name="图片 2" descr="天花板吊顶图"/>
          <p:cNvPicPr>
            <a:picLocks noChangeAspect="1"/>
          </p:cNvPicPr>
          <p:nvPr/>
        </p:nvPicPr>
        <p:blipFill>
          <a:blip r:embed="rId1"/>
          <a:srcRect l="2187" t="7593"/>
          <a:stretch>
            <a:fillRect/>
          </a:stretch>
        </p:blipFill>
        <p:spPr>
          <a:xfrm>
            <a:off x="1642110" y="390525"/>
            <a:ext cx="5993765" cy="4752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49796" y="306077"/>
            <a:ext cx="13258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家具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尺寸图</a:t>
            </a:r>
            <a:endParaRPr lang="zh-CN" altLang="en-US" b="1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pic>
        <p:nvPicPr>
          <p:cNvPr id="3" name="图片 2" descr="家具尺寸图"/>
          <p:cNvPicPr>
            <a:picLocks noChangeAspect="1"/>
          </p:cNvPicPr>
          <p:nvPr/>
        </p:nvPicPr>
        <p:blipFill>
          <a:blip r:embed="rId1"/>
          <a:srcRect l="2073" t="5951" r="3389" b="3667"/>
          <a:stretch>
            <a:fillRect/>
          </a:stretch>
        </p:blipFill>
        <p:spPr>
          <a:xfrm>
            <a:off x="1635125" y="306070"/>
            <a:ext cx="5793105" cy="46488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ING/Desktop/室内/微信图片_20260513013614_330_11.jpg微信图片_20260513013614_330_11"/>
          <p:cNvPicPr>
            <a:picLocks noChangeAspect="1"/>
          </p:cNvPicPr>
          <p:nvPr/>
        </p:nvPicPr>
        <p:blipFill>
          <a:blip r:embed="rId1"/>
          <a:srcRect t="9010" b="90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立面图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9D8061">
                    <a:alpha val="8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r>
              <a:rPr lang="en-US" sz="22500" b="1" dirty="0">
                <a:solidFill>
                  <a:srgbClr val="4E2C17">
                    <a:alpha val="88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22500" b="1" dirty="0">
              <a:solidFill>
                <a:srgbClr val="4E2C17">
                  <a:alpha val="88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796" y="306077"/>
            <a:ext cx="12811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客厅</a:t>
            </a:r>
            <a:r>
              <a:rPr lang="en-US" altLang="zh-CN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立面</a:t>
            </a:r>
            <a:endParaRPr lang="zh-CN" altLang="en-US" dirty="0"/>
          </a:p>
        </p:txBody>
      </p:sp>
      <p:pic>
        <p:nvPicPr>
          <p:cNvPr id="3" name="图片 2" descr="客厅立面图"/>
          <p:cNvPicPr>
            <a:picLocks noChangeAspect="1"/>
          </p:cNvPicPr>
          <p:nvPr/>
        </p:nvPicPr>
        <p:blipFill>
          <a:blip r:embed="rId1"/>
          <a:srcRect l="3492" t="20289" b="28531"/>
          <a:stretch>
            <a:fillRect/>
          </a:stretch>
        </p:blipFill>
        <p:spPr>
          <a:xfrm>
            <a:off x="1140460" y="753745"/>
            <a:ext cx="7417435" cy="330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796" y="306077"/>
            <a:ext cx="12650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客厅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立面</a:t>
            </a:r>
            <a:endParaRPr lang="zh-CN" altLang="en-US" dirty="0"/>
          </a:p>
        </p:txBody>
      </p:sp>
      <p:pic>
        <p:nvPicPr>
          <p:cNvPr id="3" name="图片 2" descr="客厅立面图东面"/>
          <p:cNvPicPr>
            <a:picLocks noChangeAspect="1"/>
          </p:cNvPicPr>
          <p:nvPr/>
        </p:nvPicPr>
        <p:blipFill>
          <a:blip r:embed="rId1"/>
          <a:srcRect l="1482" t="3210" r="2798" b="8889"/>
          <a:stretch>
            <a:fillRect/>
          </a:stretch>
        </p:blipFill>
        <p:spPr>
          <a:xfrm>
            <a:off x="1598930" y="306070"/>
            <a:ext cx="5865495" cy="452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796" y="306077"/>
            <a:ext cx="1263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客厅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立面</a:t>
            </a:r>
            <a:endParaRPr lang="zh-CN" altLang="en-US" dirty="0"/>
          </a:p>
        </p:txBody>
      </p:sp>
      <p:pic>
        <p:nvPicPr>
          <p:cNvPr id="3" name="图片 2" descr="客厅立面图西面"/>
          <p:cNvPicPr>
            <a:picLocks noChangeAspect="1"/>
          </p:cNvPicPr>
          <p:nvPr/>
        </p:nvPicPr>
        <p:blipFill>
          <a:blip r:embed="rId1"/>
          <a:srcRect l="1710" t="5951" b="16574"/>
          <a:stretch>
            <a:fillRect/>
          </a:stretch>
        </p:blipFill>
        <p:spPr>
          <a:xfrm>
            <a:off x="1612900" y="211455"/>
            <a:ext cx="6269355" cy="4147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796" y="306077"/>
            <a:ext cx="10972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餐厅立面</a:t>
            </a:r>
            <a:endParaRPr lang="zh-CN" altLang="en-US" dirty="0"/>
          </a:p>
        </p:txBody>
      </p:sp>
      <p:pic>
        <p:nvPicPr>
          <p:cNvPr id="3" name="图片 2" descr="餐厅立面图"/>
          <p:cNvPicPr>
            <a:picLocks noChangeAspect="1"/>
          </p:cNvPicPr>
          <p:nvPr/>
        </p:nvPicPr>
        <p:blipFill>
          <a:blip r:embed="rId1"/>
          <a:srcRect l="8352" t="11975" r="3627" b="20333"/>
          <a:stretch>
            <a:fillRect/>
          </a:stretch>
        </p:blipFill>
        <p:spPr>
          <a:xfrm>
            <a:off x="1786890" y="371475"/>
            <a:ext cx="6418580" cy="4143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微信图片_20260513005430_324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8555" y="0"/>
            <a:ext cx="4195445" cy="5143500"/>
          </a:xfrm>
          <a:prstGeom prst="rect">
            <a:avLst/>
          </a:prstGeom>
        </p:spPr>
      </p:pic>
      <p:pic>
        <p:nvPicPr>
          <p:cNvPr id="9" name="图片 8" descr="微信图片_20260513005430_324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960" y="0"/>
            <a:ext cx="4195445" cy="5143500"/>
          </a:xfrm>
          <a:prstGeom prst="rect">
            <a:avLst/>
          </a:prstGeom>
        </p:spPr>
      </p:pic>
      <p:pic>
        <p:nvPicPr>
          <p:cNvPr id="7" name="图片 6" descr="微信图片_20260513005430_324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195445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3B251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效果图</a:t>
            </a:r>
            <a:endParaRPr lang="zh-CN" altLang="en-US" sz="3750" b="1" dirty="0">
              <a:solidFill>
                <a:srgbClr val="3B251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604A2D"/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703F1E">
                    <a:alpha val="63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2500" b="1" dirty="0">
              <a:solidFill>
                <a:srgbClr val="703F1E">
                  <a:alpha val="63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796" y="30607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客厅效果图</a:t>
            </a:r>
            <a:endParaRPr lang="zh-CN" altLang="en-US" dirty="0"/>
          </a:p>
        </p:txBody>
      </p:sp>
      <p:pic>
        <p:nvPicPr>
          <p:cNvPr id="3" name="图片 2" descr="客餐厅效果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4800"/>
            <a:ext cx="9144000" cy="4533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796" y="30607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厨房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效果图</a:t>
            </a:r>
            <a:endParaRPr lang="zh-CN" altLang="en-US" dirty="0"/>
          </a:p>
        </p:txBody>
      </p:sp>
      <p:pic>
        <p:nvPicPr>
          <p:cNvPr id="3" name="图片 2" descr="客厅效果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6215"/>
            <a:ext cx="9144000" cy="4750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796" y="3060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卫生间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效果图</a:t>
            </a:r>
            <a:endParaRPr lang="zh-CN" altLang="en-US" dirty="0"/>
          </a:p>
        </p:txBody>
      </p:sp>
      <p:pic>
        <p:nvPicPr>
          <p:cNvPr id="3" name="图片 2" descr="入户门效果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2560"/>
            <a:ext cx="9144000" cy="4818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796" y="30607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书房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效果图</a:t>
            </a:r>
            <a:endParaRPr lang="zh-CN" altLang="en-US" dirty="0"/>
          </a:p>
        </p:txBody>
      </p:sp>
      <p:pic>
        <p:nvPicPr>
          <p:cNvPr id="3" name="图片 2" descr="主卧效果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5105"/>
            <a:ext cx="9144000" cy="4732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796" y="30607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阳台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效果图</a:t>
            </a:r>
            <a:endParaRPr lang="zh-CN" altLang="en-US" dirty="0"/>
          </a:p>
        </p:txBody>
      </p:sp>
      <p:pic>
        <p:nvPicPr>
          <p:cNvPr id="3" name="图片 2" descr="次卧效果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3835"/>
            <a:ext cx="9144000" cy="4735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796" y="30607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次卧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效果图</a:t>
            </a:r>
            <a:endParaRPr lang="zh-CN" altLang="en-US" dirty="0"/>
          </a:p>
        </p:txBody>
      </p:sp>
      <p:pic>
        <p:nvPicPr>
          <p:cNvPr id="3" name="图片 2" descr="卫生间效果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2575"/>
            <a:ext cx="9144000" cy="4577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484*75"/>
  <p:tag name="TABLE_ENDDRAG_RECT" val="160*508*484*75"/>
</p:tagLst>
</file>

<file path=ppt/tags/tag2.xml><?xml version="1.0" encoding="utf-8"?>
<p:tagLst xmlns:p="http://schemas.openxmlformats.org/presentationml/2006/main">
  <p:tag name="KSO_WM_DIAGRAM_VIRTUALLY_FRAME" val="{&quot;height&quot;:222.75007874015745,&quot;left&quot;:31.5,&quot;top&quot;:145.5,&quot;width&quot;:657}"/>
</p:tagLst>
</file>

<file path=ppt/tags/tag3.xml><?xml version="1.0" encoding="utf-8"?>
<p:tagLst xmlns:p="http://schemas.openxmlformats.org/presentationml/2006/main">
  <p:tag name="KSO_WM_DIAGRAM_VIRTUALLY_FRAME" val="{&quot;height&quot;:222.75007874015745,&quot;left&quot;:31.5,&quot;top&quot;:145.5,&quot;width&quot;:657}"/>
</p:tagLst>
</file>

<file path=ppt/tags/tag4.xml><?xml version="1.0" encoding="utf-8"?>
<p:tagLst xmlns:p="http://schemas.openxmlformats.org/presentationml/2006/main">
  <p:tag name="KSO_WM_DIAGRAM_VIRTUALLY_FRAME" val="{&quot;height&quot;:222.75007874015745,&quot;left&quot;:31.5,&quot;top&quot;:145.5,&quot;width&quot;:657}"/>
</p:tagLst>
</file>

<file path=ppt/tags/tag5.xml><?xml version="1.0" encoding="utf-8"?>
<p:tagLst xmlns:p="http://schemas.openxmlformats.org/presentationml/2006/main">
  <p:tag name="KSO_WM_DIAGRAM_VIRTUALLY_FRAME" val="{&quot;height&quot;:222.75007874015745,&quot;left&quot;:31.5,&quot;top&quot;:145.5,&quot;width&quot;:657}"/>
</p:tagLst>
</file>

<file path=ppt/tags/tag6.xml><?xml version="1.0" encoding="utf-8"?>
<p:tagLst xmlns:p="http://schemas.openxmlformats.org/presentationml/2006/main">
  <p:tag name="KSO_WM_DIAGRAM_VIRTUALLY_FRAME" val="{&quot;height&quot;:222.75007874015745,&quot;left&quot;:31.5,&quot;top&quot;:145.5,&quot;width&quot;:657}"/>
</p:tagLst>
</file>

<file path=ppt/tags/tag7.xml><?xml version="1.0" encoding="utf-8"?>
<p:tagLst xmlns:p="http://schemas.openxmlformats.org/presentationml/2006/main">
  <p:tag name="KSO_WM_DIAGRAM_VIRTUALLY_FRAME" val="{&quot;height&quot;:222.75007874015745,&quot;left&quot;:31.5,&quot;top&quot;:145.5,&quot;width&quot;:657}"/>
</p:tagLst>
</file>

<file path=ppt/tags/tag8.xml><?xml version="1.0" encoding="utf-8"?>
<p:tagLst xmlns:p="http://schemas.openxmlformats.org/presentationml/2006/main">
  <p:tag name="KSO_WM_DIAGRAM_VIRTUALLY_FRAME" val="{&quot;height&quot;:222.75007874015745,&quot;left&quot;:31.5,&quot;top&quot;:145.5,&quot;width&quot;:657}"/>
</p:tagLst>
</file>

<file path=ppt/tags/tag9.xml><?xml version="1.0" encoding="utf-8"?>
<p:tagLst xmlns:p="http://schemas.openxmlformats.org/presentationml/2006/main">
  <p:tag name="KSO_WM_DIAGRAM_VIRTUALLY_FRAME" val="{&quot;height&quot;:222.75007874015745,&quot;left&quot;:31.5,&quot;top&quot;:145.5,&quot;width&quot;:657}"/>
</p:tagLst>
</file>

<file path=ppt/tags/tag10.xml><?xml version="1.0" encoding="utf-8"?>
<p:tagLst xmlns:p="http://schemas.openxmlformats.org/presentationml/2006/main">
  <p:tag name="KSO_WM_DIAGRAM_VIRTUALLY_FRAME" val="{&quot;height&quot;:222.75007874015745,&quot;left&quot;:31.5,&quot;top&quot;:145.5,&quot;width&quot;:657}"/>
</p:tagLst>
</file>

<file path=ppt/tags/tag11.xml><?xml version="1.0" encoding="utf-8"?>
<p:tagLst xmlns:p="http://schemas.openxmlformats.org/presentationml/2006/main">
  <p:tag name="KSO_WM_DIAGRAM_VIRTUALLY_FRAME" val="{&quot;height&quot;:222.75007874015745,&quot;left&quot;:31.5,&quot;top&quot;:145.5,&quot;width&quot;:657}"/>
</p:tagLst>
</file>

<file path=ppt/tags/tag12.xml><?xml version="1.0" encoding="utf-8"?>
<p:tagLst xmlns:p="http://schemas.openxmlformats.org/presentationml/2006/main">
  <p:tag name="KSO_WM_DIAGRAM_VIRTUALLY_FRAME" val="{&quot;height&quot;:222.75007874015745,&quot;left&quot;:31.5,&quot;top&quot;:145.5,&quot;width&quot;:657}"/>
</p:tagLst>
</file>

<file path=ppt/tags/tag13.xml><?xml version="1.0" encoding="utf-8"?>
<p:tagLst xmlns:p="http://schemas.openxmlformats.org/presentationml/2006/main">
  <p:tag name="KSO_WM_DIAGRAM_VIRTUALLY_FRAME" val="{&quot;height&quot;:222.75007874015745,&quot;left&quot;:31.5,&quot;top&quot;:145.5,&quot;width&quot;:657}"/>
</p:tagLst>
</file>

<file path=ppt/tags/tag14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15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16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17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18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19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20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21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22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23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24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25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26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ags/tag27.xml><?xml version="1.0" encoding="utf-8"?>
<p:tagLst xmlns:p="http://schemas.openxmlformats.org/presentationml/2006/main">
  <p:tag name="KSO_WM_DIAGRAM_VIRTUALLY_FRAME" val="{&quot;height&quot;:148.5,&quot;left&quot;:45,&quot;top&quot;:189,&quot;width&quot;:63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2482</Words>
  <Application>WPS 演示</Application>
  <PresentationFormat>全屏显示(16:9)</PresentationFormat>
  <Paragraphs>279</Paragraphs>
  <Slides>33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Arial</vt:lpstr>
      <vt:lpstr>宋体</vt:lpstr>
      <vt:lpstr>Wingdings</vt:lpstr>
      <vt:lpstr>黑体</vt:lpstr>
      <vt:lpstr>Calibri</vt:lpstr>
      <vt:lpstr>微软雅黑</vt:lpstr>
      <vt:lpstr>微软雅黑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刘铮</cp:lastModifiedBy>
  <cp:revision>13</cp:revision>
  <dcterms:created xsi:type="dcterms:W3CDTF">2026-05-06T01:37:00Z</dcterms:created>
  <dcterms:modified xsi:type="dcterms:W3CDTF">2026-05-15T12:27:22Z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28A7FAA5168C423DBC151F74425A9403_13</vt:lpwstr>
  </property>
  <property fmtid="{D5CDD505-2E9C-101B-9397-08002B2CF9AE}" pid="3" name="KSOProductBuildVer">
    <vt:lpwstr>2052-12.1.0.23125</vt:lpwstr>
  </property>
</Properties>
</file>